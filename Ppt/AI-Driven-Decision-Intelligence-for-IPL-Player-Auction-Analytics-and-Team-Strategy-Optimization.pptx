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Playfair Display"/>
      <p:regular r:id="rId201314"/>
    </p:embeddedFont>
    <p:embeddedFont>
      <p:font typeface="Playfair Display SemiBold"/>
      <p:regular r:id="rId201315"/>
    </p:embeddedFont>
    <p:embeddedFont>
      <p:font typeface="Playfair Display Bold"/>
      <p:regular r:id="rId201316"/>
    </p:embeddedFont>
    <p:embeddedFont>
      <p:font typeface="Public Sans"/>
      <p:regular r:id="rId201317"/>
    </p:embeddedFont>
    <p:embeddedFont>
      <p:font typeface="Public Sans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73410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AI-Driven Decision Intelligence for IPL Player Auction Analytics and Team Strategy Optimization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19475"/>
            <a:ext cx="6296860" cy="266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Summer Research Internship 2026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Team: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Anurag Kamble · Shruti Suryawanshi · Omkumar Sirmalwad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Guided by: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Prof. Saurabh N. Mehta · Prof. Kiran Talele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Organization: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Sardar Patel Technology Business Incubator (SP-TBI), Mumbai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Academic Year: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2025–2026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23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Introduction &amp; Problem Statement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3107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    IPL franchises must make timely decisions on player valuation, expected     performance, squad composition, role fit and auction budgets. Traditional     approaches combine statistics, scouting and domain experience.   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48533"/>
            <a:ext cx="3496877" cy="2001937"/>
          </a:xfrm>
          <a:prstGeom prst="roundRect">
            <a:avLst>
              <a:gd name="adj" fmla="val 3966"/>
            </a:avLst>
          </a:prstGeom>
          <a:solidFill>
            <a:srgbClr val="E1C2C2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24130" dir="2700000">
              <a:srgbClr val="c7a8a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6832" y="2743895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Study 1 — Auction Price Prediction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447852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 historical player statistics estimate IPL auction prices?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548533"/>
            <a:ext cx="3496877" cy="2001937"/>
          </a:xfrm>
          <a:prstGeom prst="roundRect">
            <a:avLst>
              <a:gd name="adj" fmla="val 3966"/>
            </a:avLst>
          </a:prstGeom>
          <a:solidFill>
            <a:srgbClr val="CCC4EC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sx="100000" sy="100000" kx="0" ky="0" algn="bl" rotWithShape="0" blurRad="127" dist="24130" dir="2700000">
              <a:srgbClr val="b2aad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2716" y="2743895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Study 2 — Player Ranking &amp; Classification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42716" y="344785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 multi-season ball-by-ball data produce transparent, defensible player tiers?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548533"/>
            <a:ext cx="3496877" cy="2001937"/>
          </a:xfrm>
          <a:prstGeom prst="roundRect">
            <a:avLst>
              <a:gd name="adj" fmla="val 3966"/>
            </a:avLst>
          </a:prstGeom>
          <a:solidFill>
            <a:srgbClr val="B4DAE4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sx="100000" sy="100000" kx="0" ky="0" algn="bl" rotWithShape="0" blurRad="127" dist="24130" dir="2700000">
              <a:srgbClr val="9ac0ca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8600" y="27438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Important Limitation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8600" y="315257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Auction prices also depend on retention, franchise budgets, demand, recent form and injuries.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763095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Visual summary: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Player Statistics → ML Model → Auction Price Prediction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Ball-by-Ball Data → Performance Metrics → Player Classification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8483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Objectives &amp; Overall Architecture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34959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645470"/>
            <a:ext cx="6296860" cy="2540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2790726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Objectives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3360" y="319940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Literature review, XGBoost modelling, validation comparison, leakage diagnosis, performance pipeline, classification, head‑to‑head comparisons, evaluate utility &amp; limits.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33360" y="4460974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Architecture (high-level flow): IPL Analytics → [STUDY 1: Auction Dataset → Preprocessing → Feature Engineering → XGBoost → Price Prediction → Evaluation] | [STUDY 2: Ball-by-Ball → Match/Career Aggregation → Performance Matrix → Quantile Classification → Head-to-Head Analysis]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213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Datasets &amp; Technology Stack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91940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Datasets</a:t>
            </a:r>
            <a:endParaRPr lang="en-US" sz="15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92387"/>
          <a:ext cx="5239810" cy="914400"/>
        </p:xfrm>
        <a:graphic>
          <a:graphicData uri="http://schemas.openxmlformats.org/drawingml/2006/table">
            <a:tbl>
              <a:tblPr/>
              <a:tblGrid>
                <a:gridCol w="2095904"/>
                <a:gridCol w="1571953"/>
                <a:gridCol w="1571953"/>
              </a:tblGrid>
              <a:tr h="409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Dataset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Period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Notes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879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IPL Auction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2008–2017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1,108 records · 42 features · Price prediction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1114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Ball-by-Ball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2012–2025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Delivery-level IPL data · performance analysis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13497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Longevity Pool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2012–2025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11 players present every season · fair multi-season comparison</a:t>
                      </a:r>
                      <a:endParaRPr lang="en-US" sz="12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709444"/>
            <a:ext cx="523981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Dataset limitation: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Missing retention history, franchise budget/demand, recent form, injury and strategic context.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96760" y="1391940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Technology Stack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6760" y="1792387"/>
            <a:ext cx="398651" cy="3986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6760" y="2359223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Python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296760" y="2742902"/>
            <a:ext cx="52398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Pandas · NumPy · Scikit-learn · XGBoost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316703" y="3249216"/>
            <a:ext cx="358667" cy="394494"/>
          </a:xfrm>
          <a:prstGeom prst="roundRect">
            <a:avLst>
              <a:gd name="adj" fmla="val 12747"/>
            </a:avLst>
          </a:prstGeom>
          <a:solidFill>
            <a:srgbClr val="DFDF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374" y="3360737"/>
            <a:ext cx="199325" cy="1594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96760" y="3813969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Notebooks &amp; Visualization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296760" y="4197648"/>
            <a:ext cx="52398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Jupyter · Matplotlib · Seaborn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6760" y="4701877"/>
            <a:ext cx="398651" cy="3986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96760" y="5268714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Development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296760" y="5652393"/>
            <a:ext cx="52398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VS Code · versioned experiments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88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Study 1 — XGBoost Auction Price Prediction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597" y="1501973"/>
            <a:ext cx="3092869" cy="46393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9980" y="2188369"/>
            <a:ext cx="5786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Inputs &amp; Feature Engineering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49980" y="2621161"/>
            <a:ext cx="5786491" cy="112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Inputs: Runs, Matches, Batting Average, Strike Rate, Wickets, Prev-season stats, Age, Year, Status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Derived: RunGrowth, MatchGrowth, AverageGrowth, StrikeRateGrowth, WicketGrowth, EconomyChange, AgeSquared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49980" y="3909120"/>
            <a:ext cx="5786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749980" y="4341912"/>
            <a:ext cx="639607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XGBoost regression → Target: Final auction price (₹)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49980" y="4770338"/>
            <a:ext cx="5786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Visual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749980" y="5203130"/>
            <a:ext cx="639607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 importance (top 20) used to interpret drivers of predicted price.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Study 1 — Experiments &amp; Model Evaluation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Comparison of validation strategies and regularization effects. Metric: Test R² (do not call this accuracy).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60865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7215684"/>
            <a:ext cx="3591430" cy="617041"/>
          </a:xfrm>
          <a:prstGeom prst="roundRect">
            <a:avLst>
              <a:gd name="adj" fmla="val 6433"/>
            </a:avLst>
          </a:prstGeom>
          <a:solidFill>
            <a:srgbClr val="FFFAF6"/>
          </a:solidFill>
          <a:ln w="12700">
            <a:solidFill>
              <a:srgbClr val="E1C2C2"/>
            </a:solidFill>
            <a:prstDash val="solid"/>
          </a:ln>
          <a:effectLst>
            <a:outerShdw sx="100000" sy="100000" kx="0" ky="0" algn="bl" rotWithShape="0" blurRad="127" dist="11430" dir="2700000">
              <a:srgbClr val="e1c2c2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628" y="7322840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Experiment 1 (Baseline)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8628" y="7498755"/>
            <a:ext cx="33771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Train R² = 0.9888 · Test R² = 0.6580 · MAE = ₹12.77M · RMSE = ₹17.72M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300132" y="7215684"/>
            <a:ext cx="3591430" cy="617041"/>
          </a:xfrm>
          <a:prstGeom prst="roundRect">
            <a:avLst>
              <a:gd name="adj" fmla="val 6433"/>
            </a:avLst>
          </a:prstGeom>
          <a:solidFill>
            <a:srgbClr val="FFFAF6"/>
          </a:solidFill>
          <a:ln w="12700">
            <a:solidFill>
              <a:srgbClr val="CCC4EC"/>
            </a:solidFill>
            <a:prstDash val="solid"/>
          </a:ln>
          <a:effectLst>
            <a:outerShdw sx="100000" sy="100000" kx="0" ky="0" algn="bl" rotWithShape="0" blurRad="127" dist="11430" dir="2700000">
              <a:srgbClr val="ccc4ec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07286" y="7322840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Experiment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07286" y="7498755"/>
            <a:ext cx="33771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Time-based holdout (2017): Train R² = 0.9888 · Test R² = 0.5395 · MAE = ₹14.89M · RMSE = ₹22.36M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7938790" y="7215684"/>
            <a:ext cx="3591430" cy="617041"/>
          </a:xfrm>
          <a:prstGeom prst="roundRect">
            <a:avLst>
              <a:gd name="adj" fmla="val 6433"/>
            </a:avLst>
          </a:prstGeom>
          <a:solidFill>
            <a:srgbClr val="FFFAF6"/>
          </a:solidFill>
          <a:ln w="12700">
            <a:solidFill>
              <a:srgbClr val="B4DAE4"/>
            </a:solidFill>
            <a:prstDash val="solid"/>
          </a:ln>
          <a:effectLst>
            <a:outerShdw sx="100000" sy="100000" kx="0" ky="0" algn="bl" rotWithShape="0" blurRad="127" dist="11430" dir="2700000">
              <a:srgbClr val="b4dae4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5943" y="7322840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Experiment 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5943" y="7498755"/>
            <a:ext cx="33771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Regularized, time-based: Train R² = 0.7969 · Test R² = 0.4115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6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 Diagnosis — Leakage, Bias &amp; R²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90390"/>
            <a:ext cx="2525114" cy="23976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6832" y="1885752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Problem: Random Split Optimism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6832" y="2665313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Information from similar seasons leaked across train/test → inflated Test R².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7875" y="1690390"/>
            <a:ext cx="2525114" cy="23976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53232" y="1885752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Problem: Ordinal Encoding Bias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553232" y="2665313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LabelEncoder produced artificial ordinal relations across categorical features.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59362"/>
            <a:ext cx="5221515" cy="17999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6832" y="4454723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Problem: Overfitting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56832" y="4939010"/>
            <a:ext cx="48130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Very high Train R² vs lower Test R² indicates overfitting; regularization reduced gap but lowered Test R².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332776" y="166677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Solutions &amp; Notes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332776" y="2151063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time-based validation for realistic generalization estimates.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Replace LabelEncoder with OneHotEncoder + ColumnTransformer to avoid ordinal bias.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Apply regularization and careful feature selection to control overfitting.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332776" y="428674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R² reminder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6332776" y="477103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R² = 1 − Σ(yᵢ − ŷᵢ)² / Σ(yᵢ − ȳ)². It quantifies explained variance on the evaluated dataset (e.g., R² = 0.5395 → ~54% variance explained). Do not call this "accuracy".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228"/>
            <a:ext cx="10868745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Study 2 — Ball-by-Ball Performance &amp; Quantile Classification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484" y="1905099"/>
            <a:ext cx="2830839" cy="4246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33807" y="2232819"/>
            <a:ext cx="58026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Processing pipeline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733807" y="2616498"/>
            <a:ext cx="580266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Ball-by-Ball Data → Match-level aggregation → Career-level aggregation → Performance matrix (prevents double-counting)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33807" y="3221335"/>
            <a:ext cx="58026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Batting metrics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733807" y="3605014"/>
            <a:ext cx="641224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Runs · Batting Average · Strike Rate · Fours · Sixes · 50s · 100s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33807" y="3974703"/>
            <a:ext cx="58026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Bowling metrics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733807" y="4358382"/>
            <a:ext cx="641224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Wickets · Economy Rate · Bowling Average · Strike Rate · Wickets per Match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33807" y="4728071"/>
            <a:ext cx="58026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Classification rules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733807" y="5111750"/>
            <a:ext cx="5802663" cy="799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Batting: 5 quintile classes by Batting Average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Bowling: 4 quartile classes by Wickets per Match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Minimum sample: 15 innings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9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Player Comparison &amp; Key Results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205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Head-to-head analysis augments ranking: answers “How does Player A perform vs Player B?”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50646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Primary comparison metrics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085207"/>
            <a:ext cx="1086874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Batting: Batting Average, Strike Rate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Bowling: Bowling Average (lower is better), Economy Rate (lower is better)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968750"/>
            <a:ext cx="10868745" cy="193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Directionality adjusted for bowling metrics so green always indicates row player advantage.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Key numeric reminders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Study 1 (time-based) Test R² = 0.5395 · MAE = ₹14.89M · RMSE = ₹22.36M. Study 2: 2012–2025, 11 longevity-qualified players, 5 batting classes, 4 bowling classes, 15-innings min.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Methodological note: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Composite z-score was evaluated but not used as primary output because it can undervalue specialist bowlers.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513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Batting rank and quintile classification</a:t>
            </a:r>
            <a:endParaRPr lang="en-US" sz="2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93118"/>
          <a:ext cx="10868745" cy="914400"/>
        </p:xfrm>
        <a:graphic>
          <a:graphicData uri="http://schemas.openxmlformats.org/drawingml/2006/table">
            <a:tbl>
              <a:tblPr/>
              <a:tblGrid>
                <a:gridCol w="1552678"/>
                <a:gridCol w="1552678"/>
                <a:gridCol w="1552678"/>
                <a:gridCol w="1552678"/>
                <a:gridCol w="1552678"/>
                <a:gridCol w="1552678"/>
                <a:gridCol w="1552678"/>
              </a:tblGrid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Player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Average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Strike Rate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Innings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100s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50s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89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 Kohli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39.56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132.89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259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63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5 (Top 20%)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89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MS Dhoni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38.30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137.45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241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24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5 (Top 20%)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 Miller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35.78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138.60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133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4 (60–80%)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AM Rahane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30.50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125.02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183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33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4 (60–80%)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RG Sharma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29.73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132.10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266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47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3 (40–60%)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MK Pandey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29.20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121.52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161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22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3 (40–60%)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RA Jadeja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27.86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130.30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194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2 (20–40%)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3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MA Agarwal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22.97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133.53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125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2 (20–40%)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89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SP Narine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17.62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166.51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118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7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1 (Bottom 20%)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89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JD Unadkat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12.31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118.67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27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1 (Bottom 20%)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22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Bowling rank and quartile classification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96008"/>
          <a:ext cx="10868745" cy="914400"/>
        </p:xfrm>
        <a:graphic>
          <a:graphicData uri="http://schemas.openxmlformats.org/drawingml/2006/table">
            <a:tbl>
              <a:tblPr/>
              <a:tblGrid>
                <a:gridCol w="1552678"/>
                <a:gridCol w="1552678"/>
                <a:gridCol w="1552678"/>
                <a:gridCol w="1552678"/>
                <a:gridCol w="1552678"/>
                <a:gridCol w="1552678"/>
                <a:gridCol w="1552678"/>
              </a:tblGrid>
              <a:tr h="4731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Player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Innings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Wickets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WPM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Economy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Bowl Avg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7409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 Kumar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190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198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1.04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1.37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4.85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4 (Top 25%)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7409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SP Narine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187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192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1.03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1.31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4.96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4 (Top 25%)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7409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JD Unadkat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111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110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0.99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1.58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5.43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3 (50–75%)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7409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RA Jadeja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225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170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0.76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1.68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6.68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2 (25–50%)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7409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RG Sharma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32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15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0.47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2.39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9.00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1 (Bottom 25%)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7409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 Kohli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26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0.15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2.65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27.75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F655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 1 (Bottom 25%)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745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Visual outputs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76474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Batting Average Heatmap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08175"/>
            <a:ext cx="5228995" cy="42052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7575" y="1428552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Strike Rate Heatmap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575" y="1860252"/>
            <a:ext cx="5228995" cy="43012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613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Bowling Average Heatmap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34034"/>
            <a:ext cx="5203794" cy="4074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11303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Economy Rate Heatmap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76" y="1620937"/>
            <a:ext cx="5203794" cy="41003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Conclusion, Limitations &amp; Future Scope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24961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3444478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complementary studies: XGBoost price modelling and ball-by-ball classification.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Realistic validation (time-based) is essential; predictions constrained by available signals.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Match-level aggregation and quantile classification produced transparent batting/bowling tiers.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3864868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Current limitations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4059734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Missing retention history, franchise budget/demand, recent form and injury/context signals.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487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Future scope (roadmap)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33872"/>
            <a:ext cx="5319083" cy="5319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38763" y="1133872"/>
            <a:ext cx="5276530" cy="13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Additional directions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38763" y="1292368"/>
            <a:ext cx="5276530" cy="35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78000"/>
              </a:lnSpc>
              <a:buSzPct val="100000"/>
              <a:buChar char="•"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Include recent-form and prior-auction features</a:t>
            </a:r>
            <a:endParaRPr lang="en-US" sz="650" dirty="0"/>
          </a:p>
          <a:p>
            <a:pPr algn="l" marL="132080" indent="-132080">
              <a:lnSpc>
                <a:spcPct val="78000"/>
              </a:lnSpc>
              <a:buSzPct val="100000"/>
              <a:buChar char="•"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Explore SMOTE / cost-sensitive learning for rare high-value players</a:t>
            </a:r>
            <a:endParaRPr lang="en-US" sz="650" dirty="0"/>
          </a:p>
          <a:p>
            <a:pPr algn="l" marL="132080" indent="-132080">
              <a:lnSpc>
                <a:spcPct val="78000"/>
              </a:lnSpc>
              <a:buSzPct val="100000"/>
              <a:buChar char="•"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Sequence models (Transformer/BERT) for player-event sequences</a:t>
            </a:r>
            <a:endParaRPr lang="en-US" sz="650" dirty="0"/>
          </a:p>
          <a:p>
            <a:pPr algn="l" marL="132080" indent="-132080">
              <a:lnSpc>
                <a:spcPct val="78000"/>
              </a:lnSpc>
              <a:buSzPct val="100000"/>
              <a:buChar char="•"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Integrate squad-selection optimizer and deploy decision dashboard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661475" y="6582866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6F655D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6672263"/>
            <a:ext cx="10868745" cy="27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Thank you — Questions?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Contact: Anurag Kamble · Shruti Suryawanshi · Omkumar Sirmalwad | SP-TBI, Mumbai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2026-10-01T18:09:52Z</dcterms:created>
  <dcterms:modified xsi:type="dcterms:W3CDTF">2026-10-01T18:09:52Z</dcterms:modified>
</cp:coreProperties>
</file>